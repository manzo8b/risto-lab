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DE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VOCE VIVA  •  SICUREZZA SUL LAVORO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22376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Materiale didattico introduttivo — v1.0 — 11/09/2026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SICUREZZA SUL LAVORO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CE7ED"/>
                </a:solidFill>
              </a:rPr>
              <a:t>Principi, responsabilità e prevenzione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DCE7ED"/>
                </a:solidFill>
              </a:rPr>
              <a:t>secondo il D.Lgs. 81/2008 e il quadro europeo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41248" y="3566160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3931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CORSO INTRODUTTIVO — 4 ORE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Materiale didattico Voce Viva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596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8D3"/>
                </a:solidFill>
              </a:rPr>
              <a:t>Diretto. Concreto. Tecnicamente preciso.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OBIETTIVI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Alla fine del corso dovresti saper…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</a:rPr>
              <a:t>Distinguere pericolo, rischio e danno.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</a:rPr>
              <a:t>Riconoscere le principali figure della prevenzione.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</a:rPr>
              <a:t>Comprendere come si valuta e si controlla un rischio.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</a:rPr>
              <a:t>Distinguere misure collettive e DPI.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238"/>
                </a:solidFill>
              </a:rPr>
              <a:t>Sapere come comportarsi davanti a un’anomalia o a un near miss.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MAPPA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Il percorso in 4 moduli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618488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308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Capire il rischio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Pericolo • rischio • danno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478024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679192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523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633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Sapere chi fa cosa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6609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Ruoli • diritti • doveri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538728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3739896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1304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83080" y="36941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Controllare il rischio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54880" y="3721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DVR • gerarchia delle misure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599432"/>
            <a:ext cx="10424160" cy="786384"/>
          </a:xfrm>
          <a:prstGeom prst="roundRect">
            <a:avLst>
              <a:gd name="adj" fmla="val 9302"/>
            </a:avLst>
          </a:prstGeom>
          <a:solidFill>
            <a:srgbClr val="F1F6F8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800600"/>
            <a:ext cx="475488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8737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83080" y="4754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Agire correttamente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4782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Comportamenti • near miss • emergenze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PRIMA DI INIZIARE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La cornice normativa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19659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Italia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002536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D.Lgs. 81/2008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Ruoli, obblighi, valutazione dei rischi, formazione, emergenze.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73152" cy="196596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Formazione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002536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Accordo Stato-Regioni 17/04/2025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Durata, contenuti minimi, modalità e verifiche.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417320"/>
            <a:ext cx="73152" cy="1965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Unione europea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2002536"/>
            <a:ext cx="3108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Direttiva 89/391/CEE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Principi generali di prevenzione, informazione, partecipazione e formazione.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10469880" cy="1298448"/>
          </a:xfrm>
          <a:prstGeom prst="roundRect">
            <a:avLst>
              <a:gd name="adj" fmla="val 4930"/>
            </a:avLst>
          </a:prstGeom>
          <a:solidFill>
            <a:srgbClr val="FFF4E8"/>
          </a:solidFill>
          <a:ln w="12700">
            <a:solidFill>
              <a:srgbClr val="F2C8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2D"/>
                </a:solidFill>
              </a:rPr>
              <a:t>ATTENZIONE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404164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Questo pacchetto è una base didattica. Non produce automaticamente un attestato valido: soggetto formatore, docente, progetto, presenze, verifica e documentazione devono rispettare i requisiti applicabili.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Fonti: D.Lgs. 81/2008; Accordo 17 aprile 2025, Rep. 59/CSR; Direttiva 89/391/CEE.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7A2D"/>
                </a:solidFill>
              </a:rPr>
              <a:t>MODULO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Il sistema della sicurezza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3EA"/>
                </a:solidFill>
              </a:rPr>
              <a:t>Partiamo dalle parole che guidano tutte le decisioni: pericolo, rischio, danno, prevenzione e protezione.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635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Capire → riconoscere → agire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LE TRE PAROLE DA NON CONFONDERE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Pericolo, rischio, danno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FF9F2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73152" cy="292608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PERICOLO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139696"/>
            <a:ext cx="32004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Ciò che può provocare un danno.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Esempio: pavimento scivoloso.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1F8F6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554480"/>
            <a:ext cx="73152" cy="2926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RISCHIO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2139696"/>
            <a:ext cx="32004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La possibilità che il pericolo produca un danno nelle condizioni reali di esposizione.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Dipende dal contesto.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5544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3F6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554480"/>
            <a:ext cx="73152" cy="29260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DANNO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2168" y="2139696"/>
            <a:ext cx="32004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La conseguenza negativa sulla salute o sulla sicurezza.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Esempio: caduta e lesione.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11880" y="4956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Il rischio esiste prima dell’incidente.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COME CAMBIA LA DOMANDA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Prevenzione ≠ protezione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1F8F6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73152" cy="32461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PREVENZIONE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2093976"/>
            <a:ext cx="47548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Domanda: “Come impediamo che il danno avvenga?”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• eliminare il pericolo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• ridurre il rischio alla fonte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• organizzare il lavoro in modo più sicuro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FF8E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08760"/>
            <a:ext cx="73152" cy="324612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PROTEZIONE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2093976"/>
            <a:ext cx="47548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Domanda: “Come riduciamo l’esposizione o le conseguenze?”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• misure collettive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• barriere e protezioni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• DPI quando necessari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51663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Prima si prova a eliminare o ridurre il rischio. Poi si gestisce ciò che resta.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ESERCITAZIONE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Scenario: il cavo nel corridoio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5720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83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6324F"/>
                </a:solidFill>
              </a:rPr>
              <a:t>Un cavo elettrico attraversa una zona di passaggio.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234440" y="3154680"/>
            <a:ext cx="3566160" cy="457200"/>
          </a:xfrm>
          <a:prstGeom prst="line">
            <a:avLst/>
          </a:prstGeom>
          <a:noFill/>
          <a:ln w="88900">
            <a:solidFill>
              <a:srgbClr val="E07A2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97280" y="36576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36576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508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1. Qual è il pericolo?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06440" y="2377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2. Chi può essere esposto?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06440" y="3246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238"/>
                </a:solidFill>
              </a:rPr>
              <a:t>3. Quale danno può verificarsi?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06440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</a:rPr>
              <a:t>4. Quale intervento elimina il problema?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760720" y="4800600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EAF5EE"/>
          </a:solidFill>
          <a:ln w="12700">
            <a:solidFill>
              <a:srgbClr val="B8DE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4983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7A4B"/>
                </a:solidFill>
              </a:rPr>
              <a:t>La soluzione migliore agisce sul problema, non soltanto sull’attenzione delle persone.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DIRETTIVA 89/391/CEE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Il quadro europeo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La direttiva quadro costruisce una base comune europea per la tutela della salute e della sicurezza dei lavoratori.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73152" cy="1965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Prevenzione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3099816"/>
            <a:ext cx="2194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ridurre i rischi professionali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25146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514600"/>
            <a:ext cx="73152" cy="196596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Informazione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67328" y="3099816"/>
            <a:ext cx="2194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conoscere rischi e misure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25146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514600"/>
            <a:ext cx="73152" cy="1965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Consultazione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6248" y="3099816"/>
            <a:ext cx="2194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coinvolgere lavoratori e rappresentanti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25146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2514600"/>
            <a:ext cx="73152" cy="196596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2679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Formazione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45168" y="3099816"/>
            <a:ext cx="2194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adeguata all’attività e ai cambiamenti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Direttiva 89/391/CEE, artt. 10–12.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MICRO-VERIFICA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Controllo rapido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</a:rPr>
              <a:t>Prevenire significa principalmente…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88036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A. intervenire soltanto dopo un infortunio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68503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B. acquistare sempre nuovi DPI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AF5EE"/>
          </a:solidFill>
          <a:ln w="15240">
            <a:solidFill>
              <a:srgbClr val="7AC4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8970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7A4B"/>
                </a:solidFill>
              </a:rPr>
              <a:t>C. eliminare o ridurre il rischio prima che produca un danno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5486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</a:rPr>
              <a:t>Nel corso reale, mostra la soluzione dopo la risposta del gruppo.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7A2D"/>
                </a:solidFill>
              </a:rPr>
              <a:t>MODULO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Soggetti, ruoli e responsabilità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3EA"/>
                </a:solidFill>
              </a:rPr>
              <a:t>La sicurezza non è “di una persona”. È un sistema con ruoli diversi e canali di informazione precisi.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635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Capire → riconoscere → agire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MAPPA DEI RUOLI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Chi fa cosa nel sistema di prevenzione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00600" y="2240280"/>
            <a:ext cx="2560320" cy="105156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24963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PREVENZIONE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AZIENDALE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09728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07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Datore di lavoro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1783080" y="1783080"/>
            <a:ext cx="4297680" cy="457200"/>
          </a:xfrm>
          <a:prstGeom prst="line">
            <a:avLst/>
          </a:prstGeom>
          <a:noFill/>
          <a:ln w="12700">
            <a:solidFill>
              <a:srgbClr val="C7D2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29768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498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Dirigente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1828800" y="4983480"/>
            <a:ext cx="4251960" cy="-2743200"/>
          </a:xfrm>
          <a:prstGeom prst="line">
            <a:avLst/>
          </a:prstGeom>
          <a:noFill/>
          <a:ln w="12700">
            <a:solidFill>
              <a:srgbClr val="C7D2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480060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5001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Preposto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4754880" y="5486400"/>
            <a:ext cx="1325880" cy="-3246120"/>
          </a:xfrm>
          <a:prstGeom prst="line">
            <a:avLst/>
          </a:prstGeom>
          <a:noFill/>
          <a:ln w="12700">
            <a:solidFill>
              <a:srgbClr val="C7D2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480060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07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5001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Lavoratore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8412480" y="5486400"/>
            <a:ext cx="-2331720" cy="-3246120"/>
          </a:xfrm>
          <a:prstGeom prst="line">
            <a:avLst/>
          </a:prstGeom>
          <a:noFill/>
          <a:ln w="12700">
            <a:solidFill>
              <a:srgbClr val="C7D2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374904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366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RSPP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10424160" y="4434840"/>
            <a:ext cx="-4343400" cy="-2194560"/>
          </a:xfrm>
          <a:prstGeom prst="line">
            <a:avLst/>
          </a:prstGeom>
          <a:noFill/>
          <a:ln w="12700">
            <a:solidFill>
              <a:srgbClr val="C7D2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109728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07A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328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RLS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10469880" y="1783080"/>
            <a:ext cx="-4389120" cy="457200"/>
          </a:xfrm>
          <a:prstGeom prst="line">
            <a:avLst/>
          </a:prstGeom>
          <a:noFill/>
          <a:ln w="12700">
            <a:solidFill>
              <a:srgbClr val="C7D2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777240"/>
            <a:ext cx="22402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978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324F"/>
                </a:solidFill>
              </a:rPr>
              <a:t>Medico competente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4754880" y="1463040"/>
            <a:ext cx="1325880" cy="777240"/>
          </a:xfrm>
          <a:prstGeom prst="line">
            <a:avLst/>
          </a:prstGeom>
          <a:noFill/>
          <a:ln w="12700">
            <a:solidFill>
              <a:srgbClr val="C7D2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58064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Ruoli diversi. Responsabilità diverse. Un solo sistema.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NON È UNO SPETTATORE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Il lavoratore ha un ruolo attivo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73152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USA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2093976"/>
            <a:ext cx="4754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correttamente attrezzature e DPI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508760"/>
            <a:ext cx="73152" cy="160020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RISPETTA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2093976"/>
            <a:ext cx="4754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istruzioni, formazione e procedure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66160"/>
            <a:ext cx="73152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730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SEGNALA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408" y="4151376"/>
            <a:ext cx="4754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anomalie e situazioni di pericolo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730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COOPERA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4151376"/>
            <a:ext cx="47548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alla tutela propria e delle altre persone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D.Lgs. 81/2008, art. 20; Direttiva 89/391/CEE, art. 13.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DISTINZIONE ESSENZIALE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RSPP e RLS: due sigle, due funzioni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F1F8F6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73152" cy="3474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RSPP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139696"/>
            <a:ext cx="4663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Responsabile del Servizio di Prevenzione e Protezione.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Supporta il sistema di prevenzione secondo i compiti previsti dalla normativa.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NON significa: “responsabile di tutta la sicurezza”.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FFF8E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554480"/>
            <a:ext cx="73152" cy="347472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RLS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6248" y="2139696"/>
            <a:ext cx="466344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Rappresentante dei Lavoratori per la Sicurezza.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Rappresenta i lavoratori sui temi di salute e sicurezza.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NON è una figura gerarchica di gestione.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CONTENUTO MINIMO DELLA FORMAZIONE GENERALE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Diritti, doveri e sanzioni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Non serve memorizzare un catalogo di importi. Serve capire che gli obblighi sono reali e distribuiti tra ruoli diversi.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73152" cy="2377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DIRITTI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3054096"/>
            <a:ext cx="29260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Ricevere informazione, formazione e tutele previste. Partecipare attraverso gli strumenti previsti.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46888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468880"/>
            <a:ext cx="73152" cy="23774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DOVERI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3054096"/>
            <a:ext cx="29260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Rispettare istruzioni e procedure, usare correttamente mezzi e protezioni, segnalare situazioni pericolose.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468880"/>
            <a:ext cx="73152" cy="237744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633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SANZIONI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9328" y="3054096"/>
            <a:ext cx="29260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La violazione degli obblighi può comportare conseguenze previste dalla normativa. Devono essere spiegate con fonti aggiornate.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Accordo Stato-Regioni 17/04/2025: contenuti minimi della formazione generale.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CHI PRESIDIA IL SISTEMA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Vigilanza, controllo e assistenza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73152" cy="1691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81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ASL / servizi competenti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2002536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Vigilanza sanitaria e sicurezza secondo competenze territoriali.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17320"/>
            <a:ext cx="73152" cy="169164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81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INL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2002536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Vigilanza in materia di lavoro e sicurezza nei limiti delle competenze.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73152" cy="16916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685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VV.F.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408" y="4105656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Prevenzione incendi e controlli di competenza.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52044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520440"/>
            <a:ext cx="73152" cy="169164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685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INAIL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4105656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Assicurazione, prevenzione, informazione e supporto tecnico-istituzionale.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</a:rPr>
              <a:t>La funzione concreta dipende dalle competenze attribuite dalla normativa. Evita semplificazioni del tipo “un solo ente controlla tutto”.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CHI DEVE SAPERLO?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Scenario: una protezione è stata rimossa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FFF4E8"/>
          </a:solidFill>
          <a:ln w="12700">
            <a:solidFill>
              <a:srgbClr val="F2C8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64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“La protezione rallenta la lavorazione, quindi qualcuno l’ha tolta.”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14400" y="3063240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063240"/>
            <a:ext cx="73152" cy="164592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3648456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Cosa NON deve fare il lavoratore?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3063240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3063240"/>
            <a:ext cx="73152" cy="1645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73168" y="3648456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Quale procedura deve seguire?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3063240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063240"/>
            <a:ext cx="73152" cy="1645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30768" y="3648456"/>
            <a:ext cx="29260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Chi va informato secondo l’organizzazione aziendale?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3000" y="5303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7A4B"/>
                </a:solidFill>
              </a:rPr>
              <a:t>Regola: non ignorare • non improvvisare • segnalare secondo procedure e istruzioni.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MICRO-VERIFICA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Controllo rapido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</a:rPr>
              <a:t>RLS significa…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88036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A. Responsabile Legale della Sicurezza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AF5EE"/>
          </a:solidFill>
          <a:ln w="15240">
            <a:solidFill>
              <a:srgbClr val="7AC4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68503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7A4B"/>
                </a:solidFill>
              </a:rPr>
              <a:t>B. Rappresentante dei Lavoratori per la Sicurezza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8970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C. Registro Lavoratori Sicuri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5486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</a:rPr>
              <a:t>Nel corso reale, mostra la soluzione dopo la risposta del gruppo.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7A2D"/>
                </a:solidFill>
              </a:rPr>
              <a:t>MODULO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Valutare e controllare i rischi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3EA"/>
                </a:solidFill>
              </a:rPr>
              <a:t>Prima si capisce il rischio. Poi si sceglie la misura. Non il contrario.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635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Capire → riconoscere → agire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UN MODO SEMPLICE PER RAGIONARE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La sequenza della valutazione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FFF4E8"/>
          </a:solidFill>
          <a:ln w="15240">
            <a:solidFill>
              <a:srgbClr val="E07A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50876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744" y="15819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PERICOLO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0320" y="2423160"/>
            <a:ext cx="347472" cy="384048"/>
          </a:xfrm>
          <a:prstGeom prst="chevron">
            <a:avLst/>
          </a:prstGeom>
          <a:solidFill>
            <a:srgbClr val="B8C5CF"/>
          </a:solidFill>
          <a:ln w="12700">
            <a:solidFill>
              <a:srgbClr val="B8C5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3512" y="21488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CBD5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5304" y="150876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15819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63240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ESPOSIZIONE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828032" y="2423160"/>
            <a:ext cx="347472" cy="384048"/>
          </a:xfrm>
          <a:prstGeom prst="chevron">
            <a:avLst/>
          </a:prstGeom>
          <a:solidFill>
            <a:srgbClr val="B8C5CF"/>
          </a:solidFill>
          <a:ln w="12700">
            <a:solidFill>
              <a:srgbClr val="B8C5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21224" y="21488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CBD5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3016" y="150876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6168" y="15819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30952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RISCHIO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95744" y="2423160"/>
            <a:ext cx="347472" cy="384048"/>
          </a:xfrm>
          <a:prstGeom prst="chevron">
            <a:avLst/>
          </a:prstGeom>
          <a:solidFill>
            <a:srgbClr val="B8C5CF"/>
          </a:solidFill>
          <a:ln w="12700">
            <a:solidFill>
              <a:srgbClr val="B8C5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8936" y="21488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CBD5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0728" y="150876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15819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98664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MISURA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363456" y="2423160"/>
            <a:ext cx="347472" cy="384048"/>
          </a:xfrm>
          <a:prstGeom prst="chevron">
            <a:avLst/>
          </a:prstGeom>
          <a:solidFill>
            <a:srgbClr val="B8C5CF"/>
          </a:solidFill>
          <a:ln w="12700">
            <a:solidFill>
              <a:srgbClr val="B8C5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56648" y="214884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EAF5EE"/>
          </a:solidFill>
          <a:ln w="15240">
            <a:solidFill>
              <a:srgbClr val="207A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0" y="150876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51592" y="158191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66376" y="2487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</a:rPr>
              <a:t>VERIFICA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33756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24F"/>
                </a:solidFill>
              </a:rPr>
              <a:t>La valutazione precede la soluzione.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D.Lgs. 81/2008, artt. 28–29.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SENZA TRASFORMARE IL CORSO IN UN CORSO PER VALUTATORI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DVR: che cosa serve capire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1F8F6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73152" cy="3291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CHE COS’È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093976"/>
            <a:ext cx="47548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Documento collegato alla valutazione dei rischi prevista dalla normativa.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Deve riferirsi ai rischi reali dell’attività e alle misure adottate.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8E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508760"/>
            <a:ext cx="73152" cy="329184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CHE COSA NON 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2093976"/>
            <a:ext cx="475488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Un modulo standard identico per tutte le aziende.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Un elenco dei soli incidenti già avvenuti.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Un documento che sostituisce le misure reali.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5257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Valutare significa decidere prima che cosa può andare storto e come controllarlo.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PRIMA LA FONTE, POI CIÒ CHE RESTA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Gerarchia delle misure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56716" y="1417320"/>
            <a:ext cx="9875520" cy="585216"/>
          </a:xfrm>
          <a:prstGeom prst="roundRect">
            <a:avLst>
              <a:gd name="adj" fmla="val 7813"/>
            </a:avLst>
          </a:prstGeom>
          <a:solidFill>
            <a:srgbClr val="207A4B"/>
          </a:solidFill>
          <a:ln w="12700">
            <a:solidFill>
              <a:srgbClr val="207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3876" y="156362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Eliminare il pericolo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88236" y="2221992"/>
            <a:ext cx="8412480" cy="585216"/>
          </a:xfrm>
          <a:prstGeom prst="roundRect">
            <a:avLst>
              <a:gd name="adj" fmla="val 781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5396" y="23682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Ridurre alla fonte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19756" y="3026664"/>
            <a:ext cx="6949440" cy="585216"/>
          </a:xfrm>
          <a:prstGeom prst="roundRect">
            <a:avLst>
              <a:gd name="adj" fmla="val 7813"/>
            </a:avLst>
          </a:prstGeom>
          <a:solidFill>
            <a:srgbClr val="4A7D96"/>
          </a:solidFill>
          <a:ln w="12700">
            <a:solidFill>
              <a:srgbClr val="4A7D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56916" y="3172968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Misure tecniche / organizzative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51276" y="3831336"/>
            <a:ext cx="5486400" cy="585216"/>
          </a:xfrm>
          <a:prstGeom prst="roundRect">
            <a:avLst>
              <a:gd name="adj" fmla="val 781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8436" y="39776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Protezione collettiva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82796" y="4636008"/>
            <a:ext cx="4023360" cy="585216"/>
          </a:xfrm>
          <a:prstGeom prst="roundRect">
            <a:avLst>
              <a:gd name="adj" fmla="val 7813"/>
            </a:avLst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9956" y="47823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DPI per il rischio residuo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562356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Un DPI può essere necessario. Ma non è una scorciatoia che sostituisce la prevenzione.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D.Lgs. 81/2008, art. 15: priorità delle misure di protezione collettiva rispetto alle misure individuali.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DUE LIVELLI DIVERSI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Protezione collettiva e DPI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4983480" cy="3429000"/>
          </a:xfrm>
          <a:prstGeom prst="roundRect">
            <a:avLst>
              <a:gd name="adj" fmla="val 2133"/>
            </a:avLst>
          </a:prstGeom>
          <a:solidFill>
            <a:srgbClr val="F1F8F6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73152" cy="3429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PROTEZIONE COLLETTIVA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9848" y="2139696"/>
            <a:ext cx="46634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Protegge contemporaneamente più persone.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Esempi: ripari, barriere, aspirazione localizzata, segregazione dell’area quando tecnicamente pertinente.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4983480" cy="3429000"/>
          </a:xfrm>
          <a:prstGeom prst="roundRect">
            <a:avLst>
              <a:gd name="adj" fmla="val 2133"/>
            </a:avLst>
          </a:prstGeom>
          <a:solidFill>
            <a:srgbClr val="FFF8E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73152" cy="342900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2139696"/>
            <a:ext cx="46634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Protegge la singola persona che lo indossa o utilizza.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Esempi: casco, guanti, protezioni uditive, respiratori quando previsti e adeguati al rischio.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PRIMA DI DIRE “METTIAMO LE CUFFIE”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Caso: rumore elevato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563624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63238"/>
                </a:solidFill>
              </a:rPr>
              <a:t>1. Modificare o eliminare la sorgente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386584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</a:rPr>
              <a:t>2. Isolare il processo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09544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</a:rPr>
              <a:t>3. Riorganizzare l’attività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032504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238"/>
                </a:solidFill>
              </a:rPr>
              <a:t>4. Ridurre l’esposizione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4400" y="470916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4E8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855464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07A2D"/>
                </a:solidFill>
              </a:rPr>
              <a:t>5. Usare DPI adeguati quando necessari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085"/>
                </a:solidFill>
              </a:rPr>
              <a:t>Obiettivo dell’esercizio: capire l’ordine logico, non effettuare una valutazione tecnica del rumore.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MICRO-VERIFICA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Controllo rapido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</a:rPr>
              <a:t>Quale intervento ha normalmente priorità?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60120" y="2743200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EAF5EE"/>
          </a:solidFill>
          <a:ln w="15240">
            <a:solidFill>
              <a:srgbClr val="7AC4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88036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7A4B"/>
                </a:solidFill>
              </a:rPr>
              <a:t>A. Eliminare o ridurre il rischio alla fonte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47872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68503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B. Consegnare subito un DPI senza altre valutazioni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4352544"/>
            <a:ext cx="10058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8970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C. Appendere soltanto un cartello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5486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</a:rPr>
              <a:t>Nel corso reale, mostra la soluzione dopo la risposta del gruppo.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7A2D"/>
                </a:solidFill>
              </a:rPr>
              <a:t>MODULO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Comportamenti, formazione ed emergenze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3EA"/>
                </a:solidFill>
              </a:rPr>
              <a:t>La sicurezza si vede nel lavoro reale: procedure applicate, anomalie segnalate, near miss analizzati.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635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Capire → riconoscere → agire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NON SONO SINONIMI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Informazione, formazione, addestramento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3F6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73152" cy="329184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INFORMAZIONE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093976"/>
            <a:ext cx="32004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Mette a disposizione conoscenze e indicazioni necessarie sui rischi, le misure e l’organizzazione.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1F8F6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508760"/>
            <a:ext cx="73152" cy="3291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FORMAZIONE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2093976"/>
            <a:ext cx="32004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Costruisce conoscenze e competenze per lavorare in modo sicuro e consapevole.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5087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8E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508760"/>
            <a:ext cx="73152" cy="329184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ADDESTRAMENTO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2168" y="2093976"/>
            <a:ext cx="32004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Apprendimento pratico collegato all’esecuzione sicura di determinate attività nei casi previsti.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D.Lgs. 81/2008, artt. 36–37.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IL QUASI INCIDENTE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Near miss: nessun danno, molta informazione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371600"/>
            <a:ext cx="10469880" cy="1325880"/>
          </a:xfrm>
          <a:prstGeom prst="roundRect">
            <a:avLst>
              <a:gd name="adj" fmla="val 4828"/>
            </a:avLst>
          </a:prstGeom>
          <a:solidFill>
            <a:srgbClr val="FFF4E8"/>
          </a:solidFill>
          <a:ln w="12700">
            <a:solidFill>
              <a:srgbClr val="F2C8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Un oggetto cade da uno scaffale e non colpisce nessuno.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68680" y="30632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063240"/>
            <a:ext cx="73152" cy="1508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9848" y="3648456"/>
            <a:ext cx="2926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Perché è caduto?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30632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063240"/>
            <a:ext cx="73152" cy="1508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7448" y="3648456"/>
            <a:ext cx="2926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Poteva colpire qualcuno?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3063240"/>
            <a:ext cx="3246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3063240"/>
            <a:ext cx="73152" cy="1508760"/>
          </a:xfrm>
          <a:prstGeom prst="rect">
            <a:avLst/>
          </a:prstGeom>
          <a:solidFill>
            <a:srgbClr val="207A4B"/>
          </a:solidFill>
          <a:ln w="12700">
            <a:solidFill>
              <a:srgbClr val="207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85048" y="3648456"/>
            <a:ext cx="2926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Che cosa cambiamo prima che accada di nuovo?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52303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7A4B"/>
                </a:solidFill>
              </a:rPr>
              <a:t>Il near miss permette di imparare prima del danno.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VERIFICA A POSTERIORI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La formazione è efficace se cambia il lavoro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</a:rPr>
              <a:t>L’Accordo 2025 chiede di guardare oltre il quiz finale: ciò che conta è anche l’applicazione durante la prestazione lavorativa.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FF8E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14600"/>
            <a:ext cx="73152" cy="224028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679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1. EVENTI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3099816"/>
            <a:ext cx="2926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Analisi infortunistica e mancati infortuni prima/dopo la formazione.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51460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1F8F6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514600"/>
            <a:ext cx="73152" cy="2240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679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2. QUESTIONARI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3099816"/>
            <a:ext cx="2926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Percezione del pericolo, conoscenza delle misure, esperienza del lavoratore.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51460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3F6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514600"/>
            <a:ext cx="73152" cy="224028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679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3. CHECKLIST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9328" y="3099816"/>
            <a:ext cx="29260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Osservazione dei comportamenti: DPI, attrezzature, procedure.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Accordo Stato-Regioni 17/04/2025, Parte IV, §7 — verifica dell’efficacia della formazione durante la prestazione lavorativa.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LA REGOLA È SEMPLICE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Davanti a un’anomalia o a un’emergenza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469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109728" cy="749808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81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2D"/>
                </a:solidFill>
              </a:rPr>
              <a:t>NON IGNORARE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46120" y="1572768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Una condizione pericolosa non diventa accettabile perché “è sempre stato così”.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441448"/>
            <a:ext cx="10469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41448"/>
            <a:ext cx="109728" cy="7498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06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NON IMPROVVISARE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2596896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Non modificare attrezzature o procedure oltre competenze e autorizzazioni.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465576"/>
            <a:ext cx="10469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65576"/>
            <a:ext cx="109728" cy="7498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SEGUI LE PROCEDURE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3621024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Usa le istruzioni previste dall’organizzazione.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489704"/>
            <a:ext cx="10469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89704"/>
            <a:ext cx="109728" cy="749808"/>
          </a:xfrm>
          <a:prstGeom prst="rect">
            <a:avLst/>
          </a:prstGeom>
          <a:solidFill>
            <a:srgbClr val="207A4B"/>
          </a:solidFill>
          <a:ln w="12700">
            <a:solidFill>
              <a:srgbClr val="20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654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7A4B"/>
                </a:solidFill>
              </a:rPr>
              <a:t>SEGNALA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4645152"/>
            <a:ext cx="7543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Coinvolgi le figure competenti secondo il contesto aziendale.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METTI INSIEME I 4 MODULI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Caso finale: protezione rimossa per velocizzare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73152" cy="1600200"/>
          </a:xfrm>
          <a:prstGeom prst="rect">
            <a:avLst/>
          </a:prstGeom>
          <a:solidFill>
            <a:srgbClr val="E07A2D"/>
          </a:solidFill>
          <a:ln w="12700">
            <a:solidFill>
              <a:srgbClr val="E07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2002536"/>
            <a:ext cx="4800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Qual è il pericolo?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17320"/>
            <a:ext cx="73152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2002536"/>
            <a:ext cx="4800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Chi deve essere coinvolto?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29000"/>
            <a:ext cx="73152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5935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8408" y="4014216"/>
            <a:ext cx="4800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Quale misura va ripristinata o valutata?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429000"/>
            <a:ext cx="73152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59359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4014216"/>
            <a:ext cx="48006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</a:rPr>
              <a:t>Quale comportamento deve avere il lavoratore?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" y="5440680"/>
            <a:ext cx="10149840" cy="566928"/>
          </a:xfrm>
          <a:prstGeom prst="roundRect">
            <a:avLst>
              <a:gd name="adj" fmla="val 8065"/>
            </a:avLst>
          </a:prstGeom>
          <a:solidFill>
            <a:srgbClr val="EAF5EE"/>
          </a:solidFill>
          <a:ln w="12700">
            <a:solidFill>
              <a:srgbClr val="B8DE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605272"/>
            <a:ext cx="9646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7A4B"/>
                </a:solidFill>
              </a:rPr>
              <a:t>Pericolo → ruoli → misura → comportamento: questa è la logica del corso.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REGOLE OPERATIVE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Verifica finale: cosa prevede l’Accordo 2025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371600"/>
            <a:ext cx="104241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270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≥ 90%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527048"/>
            <a:ext cx="7818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frequenza per l’ammissione alla verifica finale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249424"/>
            <a:ext cx="10424160" cy="640080"/>
          </a:xfrm>
          <a:prstGeom prst="roundRect">
            <a:avLst>
              <a:gd name="adj" fmla="val 7143"/>
            </a:avLst>
          </a:prstGeom>
          <a:solidFill>
            <a:srgbClr val="F1F6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0487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Colloquio o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2404872"/>
            <a:ext cx="7818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modalità prevista per i lavoratori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127248"/>
            <a:ext cx="104241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8269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≥ 30 domande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3282696"/>
            <a:ext cx="7818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se si usa il test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005072"/>
            <a:ext cx="10424160" cy="640080"/>
          </a:xfrm>
          <a:prstGeom prst="roundRect">
            <a:avLst>
              <a:gd name="adj" fmla="val 7143"/>
            </a:avLst>
          </a:prstGeom>
          <a:solidFill>
            <a:srgbClr val="F1F6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605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3 alternative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4160520"/>
            <a:ext cx="7818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almeno tre risposte per domanda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882896"/>
            <a:ext cx="104241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03834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7A4B"/>
                </a:solidFill>
              </a:rPr>
              <a:t>≥ 70%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926080" y="5038344"/>
            <a:ext cx="7818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risposte corrette per esito positivo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Il file Excel allegato contiene 40 domande + un test pronto da 30 quesiti + chiave di correzione.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199632"/>
            <a:ext cx="10698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i="1" dirty="0">
                <a:solidFill>
                  <a:srgbClr val="98A2B3"/>
                </a:solidFill>
              </a:rPr>
              <a:t>Accordo Stato-Regioni 17/04/2025, Parte I §3 e Parte IV §6.3.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A9D8F"/>
                </a:solidFill>
              </a:rPr>
              <a:t>RIFERIMENTI DA RICONTROLLARE PRIMA DELL’EROGAZIONE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</a:rPr>
              <a:t>Fonti principali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D.Lgs. 9 aprile 2008, n. 81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325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Normattiva — testo vigente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0332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Accordo Stato-Regioni 17 aprile 2025, Rep. 59/CSR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2194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Gazzetta Ufficiale n. 119 del 24/05/2025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2651760"/>
            <a:ext cx="10332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Allegato A dell’Accordo 2025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Ministero del Lavoro e delle Politiche Sociali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10332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Direttiva 89/391/CEE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EUR-Lex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389120"/>
            <a:ext cx="10332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Direttiva 89/656/CEE e Direttiva 2009/104/CE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77840" y="4800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238"/>
                </a:solidFill>
              </a:rPr>
              <a:t>EUR-Lex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5257800"/>
            <a:ext cx="10332720" cy="0"/>
          </a:xfrm>
          <a:prstGeom prst="line">
            <a:avLst/>
          </a:prstGeom>
          <a:noFill/>
          <a:ln w="12700">
            <a:solidFill>
              <a:srgbClr val="E1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5532120"/>
            <a:ext cx="10378440" cy="566928"/>
          </a:xfrm>
          <a:prstGeom prst="roundRect">
            <a:avLst>
              <a:gd name="adj" fmla="val 8065"/>
            </a:avLst>
          </a:prstGeom>
          <a:solidFill>
            <a:srgbClr val="FFF4E8"/>
          </a:solidFill>
          <a:ln w="12700">
            <a:solidFill>
              <a:srgbClr val="F2C8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5696712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07A2D"/>
                </a:solidFill>
              </a:rPr>
              <a:t>La normativa cambia. Prima di usare il corso in un contesto certificativo, verifica sempre le fonti ufficiali vigenti.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5566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670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Voce Viva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Sicurezza sul lavoro - Slide corso</dc:title>
  <dc:subject>Corso introduttivo professionale - Sicurezza sul lavoro</dc:subject>
  <dc:creator>Voce Viva / Marcelo Fernandez</dc:creator>
  <cp:lastModifiedBy>Voce Viva / Marcelo Fernandez</cp:lastModifiedBy>
  <cp:revision>1</cp:revision>
  <dcterms:created xsi:type="dcterms:W3CDTF">2026-09-11T17:09:46Z</dcterms:created>
  <dcterms:modified xsi:type="dcterms:W3CDTF">2026-09-11T17:09:46Z</dcterms:modified>
</cp:coreProperties>
</file>